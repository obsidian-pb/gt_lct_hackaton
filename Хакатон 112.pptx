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4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5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86" r:id="rId3"/>
    <p:sldMasterId id="2147483710" r:id="rId4"/>
    <p:sldMasterId id="2147483734" r:id="rId5"/>
    <p:sldMasterId id="2147483758" r:id="rId6"/>
  </p:sldMasterIdLst>
  <p:notesMasterIdLst>
    <p:notesMasterId r:id="rId15"/>
  </p:notesMasterIdLst>
  <p:sldIdLst>
    <p:sldId id="257" r:id="rId7"/>
    <p:sldId id="258" r:id="rId8"/>
    <p:sldId id="259" r:id="rId9"/>
    <p:sldId id="260" r:id="rId10"/>
    <p:sldId id="262" r:id="rId11"/>
    <p:sldId id="261" r:id="rId12"/>
    <p:sldId id="263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BAFAD-C615-4FAA-AC41-3AB786911A9F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25F84-5EC3-4A52-949F-10DD10F88D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61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3203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925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>
                <a:solidFill>
                  <a:prstClr val="black"/>
                </a:solidFill>
                <a:cs typeface="Arial"/>
              </a:rPr>
              <a:pPr>
                <a:defRPr/>
              </a:pPr>
              <a:t>3</a:t>
            </a:fld>
            <a:endParaRPr lang="ru-RU"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412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>
                <a:solidFill>
                  <a:prstClr val="black"/>
                </a:solidFill>
                <a:cs typeface="Arial"/>
              </a:rPr>
              <a:pPr>
                <a:defRPr/>
              </a:pPr>
              <a:t>4</a:t>
            </a:fld>
            <a:endParaRPr lang="ru-RU"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1574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>
                <a:solidFill>
                  <a:prstClr val="black"/>
                </a:solidFill>
                <a:cs typeface="Arial"/>
              </a:rPr>
              <a:pPr>
                <a:defRPr/>
              </a:pPr>
              <a:t>5</a:t>
            </a:fld>
            <a:endParaRPr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7458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>
                <a:solidFill>
                  <a:prstClr val="black"/>
                </a:solidFill>
                <a:cs typeface="Arial"/>
              </a:rPr>
              <a:pPr>
                <a:defRPr/>
              </a:pPr>
              <a:t>6</a:t>
            </a:fld>
            <a:endParaRPr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9432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>
                <a:solidFill>
                  <a:prstClr val="black"/>
                </a:solidFill>
                <a:cs typeface="Arial"/>
              </a:rPr>
              <a:pPr>
                <a:defRPr/>
              </a:pPr>
              <a:t>8</a:t>
            </a:fld>
            <a:endParaRPr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72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9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33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36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709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20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09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3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80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24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2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56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9525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282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0375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0039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779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92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8712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1926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0181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371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45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551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06914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8313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628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10872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7141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08549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25582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67080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3489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32433519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7557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1801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7493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74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38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63549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5806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18082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50512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14190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9288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056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2887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53251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83087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9474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71646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7157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62449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922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58878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14818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6054881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450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02880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0596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35294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05512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64030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9976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003810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58026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99344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140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3387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7695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745107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3846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566329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970323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365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049902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6221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1309626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884049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14498363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99208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384665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88808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76331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17414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461125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23779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68273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515851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676435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4519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4104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06393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409333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415333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48291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582396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9137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537322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52679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66564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0025035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151132504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08522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679553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5945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741672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429500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752606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16710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595241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945787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67089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9797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03891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3810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795165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998673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83913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034703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6831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336374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115141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564970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152256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63630400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46426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29.09.2026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292428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51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10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24" Type="http://schemas.openxmlformats.org/officeDocument/2006/relationships/theme" Target="../theme/theme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slideLayout" Target="../slideLayouts/slideLayout1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C9BE2-F6D3-4FA6-BC50-EF6C0EA0C511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32841-C296-48B0-B0BE-E262148FB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5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9D490EE5-ED7D-46E8-8345-A78A0CB0F4A4}" type="datetime1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29.09.2026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52DCC5B9-D646-4B76-891F-6FF4E74E9CB4}" type="slidenum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‹#›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43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9D490EE5-ED7D-46E8-8345-A78A0CB0F4A4}" type="datetime1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29.09.2026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52DCC5B9-D646-4B76-891F-6FF4E74E9CB4}" type="slidenum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‹#›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232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9D490EE5-ED7D-46E8-8345-A78A0CB0F4A4}" type="datetime1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29.09.2026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52DCC5B9-D646-4B76-891F-6FF4E74E9CB4}" type="slidenum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‹#›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7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9D490EE5-ED7D-46E8-8345-A78A0CB0F4A4}" type="datetime1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29.09.2026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52DCC5B9-D646-4B76-891F-6FF4E74E9CB4}" type="slidenum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‹#›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92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9D490EE5-ED7D-46E8-8345-A78A0CB0F4A4}" type="datetime1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29.09.2026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defTabSz="914220">
              <a:defRPr/>
            </a:pPr>
            <a:fld id="{52DCC5B9-D646-4B76-891F-6FF4E74E9CB4}" type="slidenum">
              <a:rPr lang="ru-RU" kern="0">
                <a:solidFill>
                  <a:srgbClr val="FFFFFF">
                    <a:lumMod val="95000"/>
                  </a:srgbClr>
                </a:solidFill>
              </a:rPr>
              <a:pPr defTabSz="914220">
                <a:defRPr/>
              </a:pPr>
              <a:t>‹#›</a:t>
            </a:fld>
            <a:endParaRPr lang="ru-RU"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0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0" y="2940109"/>
            <a:ext cx="5005137" cy="1706743"/>
          </a:xfrm>
        </p:spPr>
        <p:txBody>
          <a:bodyPr>
            <a:noAutofit/>
          </a:bodyPr>
          <a:lstStyle/>
          <a:p>
            <a:pPr marL="268288" indent="0">
              <a:defRPr/>
            </a:pPr>
            <a:r>
              <a:rPr lang="ru-RU" sz="8000" b="1" spc="-15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Игры </a:t>
            </a:r>
            <a:br>
              <a:rPr lang="ru-RU" sz="8000" b="1" spc="-15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sz="8000" b="1" spc="-15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 теория</a:t>
            </a:r>
            <a:endParaRPr lang="ru-RU" sz="8000" b="1" spc="-15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4646852"/>
            <a:ext cx="696869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Создание ИИ-тренажёра </a:t>
            </a:r>
            <a:r>
              <a:rPr lang="ru-RU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для диспетчеров системы 112</a:t>
            </a:r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10" y="-313993"/>
            <a:ext cx="5917863" cy="1947876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5186" y="5404026"/>
            <a:ext cx="49708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0" i="0" dirty="0" smtClean="0">
                <a:solidFill>
                  <a:schemeClr val="bg1">
                    <a:lumMod val="75000"/>
                  </a:schemeClr>
                </a:solidFill>
                <a:effectLst/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Задача от города №9 от Департамента по делам гражданской обороны, чрезвычайным ситуациям и пожарной безопасности города Москвы.</a:t>
            </a:r>
            <a:endParaRPr lang="ru-RU" sz="900" dirty="0">
              <a:solidFill>
                <a:schemeClr val="bg1">
                  <a:lumMod val="75000"/>
                </a:scheme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56" y="2003215"/>
            <a:ext cx="677425" cy="461881"/>
          </a:xfrm>
          <a:prstGeom prst="rect">
            <a:avLst/>
          </a:prstGeom>
        </p:spPr>
      </p:pic>
      <p:pic>
        <p:nvPicPr>
          <p:cNvPr id="13" name="Image 7" descr=" 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0456" y="301436"/>
            <a:ext cx="2876535" cy="4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35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8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180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19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019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35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735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199916" grpId="0"/>
      <p:bldP spid="757351073" grpId="0"/>
      <p:bldP spid="1091804844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3" name="Рисунок 2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32" b="50214"/>
          <a:stretch/>
        </p:blipFill>
        <p:spPr bwMode="auto">
          <a:xfrm>
            <a:off x="0" y="334963"/>
            <a:ext cx="6456363" cy="2971800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Краткое описание решения: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Система проверяет не только жесткие регламенты и </a:t>
            </a:r>
            <a:r>
              <a:rPr lang="ru-RU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тайминги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, но и проводит семантический анализ свободного текста, понимая смысл написанного оператором, а не сравнивая слова по шаблону.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Капитан: </a:t>
            </a:r>
            <a:r>
              <a:rPr lang="ru-RU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Малютин Олег Сергеевич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Кол-во участников: </a:t>
            </a:r>
            <a:r>
              <a:rPr lang="ru-RU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5 чел.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Краткое описание: 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Общий интерес к науке и технологиям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ФГБОУ ВО Сибирская пожарно-спасательная академия ГПС МЧС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России</a:t>
            </a:r>
            <a:endParaRPr dirty="0" smtClean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Город и регион: </a:t>
            </a:r>
            <a:r>
              <a:rPr lang="ru-RU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г. Железногорск</a:t>
            </a:r>
            <a:r>
              <a:rPr lang="ru-RU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, Красноярский край.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О команде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Игры и теория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Уникальность решения:</a:t>
            </a:r>
            <a:endParaRPr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Программный комплекс, полностью эмулирующий интерфейс АРМ-112 и виртуальную IP-телефонию для реалистичного обучения операторов ДДС. Автоматизация сценариев: Встроенная </a:t>
            </a:r>
            <a:r>
              <a:rPr lang="ru-RU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нейросеть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генерирует уникальные происшествия, выступает в роли заявителя по телефону и автоматически формирует итоговую оценку.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656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8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18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81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11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111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87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95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7895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60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4360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6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7576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55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655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61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0361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51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151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600250" grpId="0"/>
      <p:bldP spid="441518184" grpId="0"/>
      <p:bldP spid="661119785" grpId="0"/>
      <p:bldP spid="648121520" grpId="0"/>
      <p:bldP spid="328740113" grpId="0"/>
      <p:bldP spid="1503619342" grpId="0"/>
      <p:bldP spid="10757614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UI/UX </a:t>
            </a:r>
            <a:endParaRPr sz="11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@</a:t>
            </a:r>
            <a:r>
              <a:rPr lang="en-US" sz="1100" kern="0" dirty="0" err="1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starosvetsky</a:t>
            </a:r>
            <a:endParaRPr sz="1100" kern="0" dirty="0" smtClean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+7 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(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983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)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502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10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21</a:t>
            </a:r>
            <a:endParaRPr lang="en-US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СПСА</a:t>
            </a:r>
            <a:endParaRPr lang="ru-RU" sz="1100" kern="0" dirty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53"/>
              </a:buClr>
              <a:buFont typeface="Wingdings"/>
              <a:buNone/>
              <a:defRPr/>
            </a:pPr>
            <a:r>
              <a:rPr lang="ru-RU" sz="1600" b="1" kern="0" dirty="0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Владимир Спешилов</a:t>
            </a:r>
            <a:endParaRPr sz="16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21875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Data Science </a:t>
            </a:r>
            <a:endParaRPr lang="en-US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@apollo84_ivb </a:t>
            </a:r>
            <a:endParaRPr lang="en-US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+7 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(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913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)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178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72</a:t>
            </a:r>
            <a:r>
              <a:rPr lang="en-US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56</a:t>
            </a:r>
            <a:endParaRPr lang="en-US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СПСА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53"/>
              </a:buClr>
              <a:buFont typeface="Wingdings"/>
              <a:buNone/>
              <a:defRPr/>
            </a:pPr>
            <a:r>
              <a:rPr lang="ru-RU" sz="1600" b="1" kern="0" dirty="0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Иван </a:t>
            </a:r>
            <a:r>
              <a:rPr lang="ru-RU" sz="1600" b="1" kern="0" dirty="0" err="1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Бабинцев</a:t>
            </a:r>
            <a:endParaRPr sz="16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4" y="4250028"/>
            <a:ext cx="2006959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 err="1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Фронтенд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-разработчик</a:t>
            </a:r>
            <a:endParaRPr sz="11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@</a:t>
            </a:r>
            <a:r>
              <a:rPr lang="en-US" sz="1100" kern="0" dirty="0" err="1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PixelShimsu</a:t>
            </a:r>
            <a:r>
              <a:rPr lang="en-US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</a:t>
            </a:r>
            <a:endParaRPr lang="ru-RU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+7 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(902) 971-52-44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СПСА</a:t>
            </a: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53"/>
              </a:buClr>
              <a:buFont typeface="Wingdings"/>
              <a:buNone/>
              <a:defRPr/>
            </a:pPr>
            <a:r>
              <a:rPr lang="ru-RU" sz="1600" b="1" kern="0" dirty="0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Глеб </a:t>
            </a:r>
            <a:r>
              <a:rPr lang="ru-RU" sz="1600" b="1" kern="0" dirty="0" err="1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Шамсудинов</a:t>
            </a:r>
            <a:endParaRPr sz="16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 err="1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Бэкенд</a:t>
            </a: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-разработчик</a:t>
            </a:r>
            <a:endParaRPr sz="1100" kern="0" dirty="0" smtClean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@</a:t>
            </a:r>
            <a:r>
              <a:rPr lang="en-US" sz="1100" kern="0" dirty="0" err="1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Sodium_tetraborat</a:t>
            </a:r>
            <a:endParaRPr lang="ru-RU" sz="1100" kern="0" dirty="0" smtClean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+7 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(908) </a:t>
            </a:r>
            <a:r>
              <a:rPr lang="ru-RU" sz="1100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791 </a:t>
            </a: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7455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1100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СПСА</a:t>
            </a:r>
            <a:endParaRPr lang="ru-RU" sz="1100" kern="0" dirty="0">
              <a:solidFill>
                <a:srgbClr val="000000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53"/>
              </a:buClr>
              <a:buFont typeface="Wingdings"/>
              <a:buNone/>
              <a:defRPr/>
            </a:pPr>
            <a:r>
              <a:rPr lang="ru-RU" sz="1600" b="1" kern="0" dirty="0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Вениамин Морозов</a:t>
            </a:r>
            <a:endParaRPr sz="16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chemeClr val="bg1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ru-RU">
              <a:solidFill>
                <a:srgbClr val="FFFFFF"/>
              </a:solidFill>
            </a:endParaRPr>
          </a:p>
        </p:txBody>
      </p:sp>
      <p:pic>
        <p:nvPicPr>
          <p:cNvPr id="2" name="Рисунок 1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2" b="37844"/>
          <a:stretch/>
        </p:blipFill>
        <p:spPr bwMode="auto">
          <a:xfrm>
            <a:off x="581025" y="1816100"/>
            <a:ext cx="1722438" cy="1552575"/>
          </a:xfrm>
        </p:spPr>
      </p:pic>
      <p:pic>
        <p:nvPicPr>
          <p:cNvPr id="3" name="Рисунок 2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3" b="30129"/>
          <a:stretch/>
        </p:blipFill>
        <p:spPr bwMode="auto">
          <a:xfrm>
            <a:off x="2886075" y="1827213"/>
            <a:ext cx="1722438" cy="1541462"/>
          </a:xfrm>
        </p:spPr>
      </p:pic>
      <p:pic>
        <p:nvPicPr>
          <p:cNvPr id="4" name="Рисунок 3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7" b="38093"/>
          <a:stretch/>
        </p:blipFill>
        <p:spPr bwMode="auto">
          <a:xfrm>
            <a:off x="5191125" y="1809750"/>
            <a:ext cx="1722438" cy="1558925"/>
          </a:xfrm>
        </p:spPr>
      </p:pic>
      <p:pic>
        <p:nvPicPr>
          <p:cNvPr id="5" name="Рисунок 4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3" b="22287"/>
          <a:stretch/>
        </p:blipFill>
        <p:spPr bwMode="auto">
          <a:xfrm>
            <a:off x="7519988" y="1809750"/>
            <a:ext cx="1722437" cy="1558925"/>
          </a:xfrm>
        </p:spPr>
      </p:pic>
      <p:pic>
        <p:nvPicPr>
          <p:cNvPr id="6" name="Рисунок 5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" b="28745"/>
          <a:stretch/>
        </p:blipFill>
        <p:spPr bwMode="auto">
          <a:xfrm>
            <a:off x="9802813" y="1809750"/>
            <a:ext cx="1722437" cy="1558925"/>
          </a:xfr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Игры и теория</a:t>
            </a:r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100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Руководитель</a:t>
            </a:r>
            <a:endParaRPr sz="11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100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@</a:t>
            </a:r>
            <a:r>
              <a:rPr lang="en-US" sz="1100" dirty="0" err="1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siberian_obsidian</a:t>
            </a:r>
            <a:endParaRPr lang="ru-RU" sz="1100" dirty="0" smtClean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+7 (</a:t>
            </a:r>
            <a:r>
              <a:rPr lang="ru-RU" sz="1100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983) 575-23-98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СПСА</a:t>
            </a:r>
            <a:endParaRPr sz="11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5318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53"/>
              </a:buClr>
              <a:buFont typeface="Wingdings"/>
              <a:buNone/>
              <a:defRPr/>
            </a:pPr>
            <a:r>
              <a:rPr lang="ru-RU" sz="1600" b="1" kern="0" dirty="0" smtClean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Олег Малютин</a:t>
            </a:r>
            <a:endParaRPr sz="1600"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21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4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504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04290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520977"/>
                </a:solidFill>
              </a:rPr>
              <a:pPr>
                <a:defRPr/>
              </a:pPr>
              <a:t>4</a:t>
            </a:fld>
            <a:endParaRPr lang="ru-RU">
              <a:solidFill>
                <a:srgbClr val="520977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Игры и теория</a:t>
            </a:r>
            <a:endParaRPr lang="ru-RU" dirty="0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10785702" cy="9342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Мы действующие сотрудники отдела информационных технологий и компьютерного моделирования Сибирской </a:t>
            </a:r>
            <a:r>
              <a:rPr lang="ru-RU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пожаррно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-спасательной академии ГПС МЧС России. </a:t>
            </a:r>
            <a:endParaRPr lang="ru-RU" dirty="0" smtClean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Победители 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хакатона «Дистанционный арктический мониторинг». Являемся авторами ежегодных Всероссийских </a:t>
            </a:r>
            <a:r>
              <a:rPr lang="ru-RU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хакатонов</a:t>
            </a:r>
            <a:r>
              <a:rPr lang="ru-RU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связанных с геоинформационными технологиями «ГеоКод: Наследие Сибири» и «Район выезда – 2026».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Краткая история команды:</a:t>
            </a:r>
            <a:endParaRPr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10552481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53"/>
              </a:buClr>
              <a:buNone/>
              <a:defRPr/>
            </a:pPr>
            <a:r>
              <a:rPr lang="ru-RU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Адаптация нашего опыта к новой предметной области. Обычно наша деятельность специализируется на проектах, связанных с геоинформационными технологиями. В этой задаче потребовалось глубокое погружение в особенности процесса функционирования Дежурно-диспетчерских служб, освоение задач из области ML и AI (TTS, STT, интеграция LLM). Наш опыт участия и организации </a:t>
            </a:r>
            <a:r>
              <a:rPr lang="ru-RU" kern="0" dirty="0" err="1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хакатонов</a:t>
            </a:r>
            <a:r>
              <a:rPr lang="ru-RU" kern="0" dirty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помог быстро освоить новый стек технологий и выдать рабочий прототип в сжатые сроки.</a:t>
            </a:r>
            <a:endParaRPr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 какими основными сложностями или вызовами </a:t>
            </a:r>
            <a:b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вы столкнулись и как их преодолели?</a:t>
            </a:r>
            <a:endParaRPr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kern="0" dirty="0" smtClean="0">
                <a:solidFill>
                  <a:srgbClr val="000000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Тематика тесно связанна с нашей деятельностью, да и просто интересна нашему коллективу.</a:t>
            </a:r>
            <a:endParaRPr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Почему вы выбрали именно эту задачу </a:t>
            </a:r>
            <a:b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</a:br>
            <a:r>
              <a:rPr lang="ru-RU" b="1" kern="0" dirty="0">
                <a:solidFill>
                  <a:srgbClr val="520977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из предложенных на хакатоне?</a:t>
            </a:r>
            <a:endParaRPr kern="0" dirty="0">
              <a:solidFill>
                <a:srgbClr val="FFFFFF">
                  <a:lumMod val="95000"/>
                </a:srgb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FF0053"/>
              </a:buClr>
              <a:buFont typeface="Wingdings"/>
              <a:buNone/>
              <a:defRPr/>
            </a:pPr>
            <a:r>
              <a:rPr lang="ru-RU" b="1" kern="0">
                <a:solidFill>
                  <a:srgbClr val="520977"/>
                </a:solidFill>
              </a:rPr>
              <a:t>01</a:t>
            </a:r>
            <a:endParaRPr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b="1" kern="0">
                <a:solidFill>
                  <a:srgbClr val="520977"/>
                </a:solidFill>
              </a:rPr>
              <a:t>02</a:t>
            </a:r>
            <a:endParaRPr kern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Clr>
                <a:srgbClr val="FF0053"/>
              </a:buClr>
              <a:buFont typeface="Wingdings"/>
              <a:buNone/>
              <a:defRPr/>
            </a:pPr>
            <a:r>
              <a:rPr lang="ru-RU" b="1" kern="0">
                <a:solidFill>
                  <a:srgbClr val="520977"/>
                </a:solidFill>
              </a:rPr>
              <a:t>03</a:t>
            </a:r>
            <a:endParaRPr kern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66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2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392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8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888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46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9046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44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444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50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550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1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311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8890124" grpId="0"/>
      <p:bldP spid="493921390" grpId="0"/>
      <p:bldP spid="243118211" grpId="0"/>
      <p:bldP spid="765507967" grpId="0"/>
      <p:bldP spid="1574440249" grpId="0"/>
      <p:bldP spid="17904695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ru-RU">
              <a:solidFill>
                <a:srgbClr val="FFFFFF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2034845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База данных   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Можно использовать как удаленный так и локальный сервер БД 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PostgreSQL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  </a:t>
            </a:r>
          </a:p>
          <a:p>
            <a:pPr>
              <a:defRPr/>
            </a:pPr>
            <a:r>
              <a:rPr lang="ru-RU" sz="1400" b="1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Фронтенд</a:t>
            </a:r>
            <a:endParaRPr lang="ru-RU" sz="1400" b="1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 marL="0" indent="0">
              <a:buNone/>
              <a:defRPr/>
            </a:pP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React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ну и все что сопутствует – 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html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/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css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/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js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   </a:t>
            </a:r>
          </a:p>
          <a:p>
            <a:pPr>
              <a:defRPr/>
            </a:pPr>
            <a:r>
              <a:rPr lang="ru-RU" sz="1400" b="1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Бэкенд</a:t>
            </a:r>
            <a:r>
              <a:rPr lang="ru-RU" sz="14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  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REST API на 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FastAPI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   </a:t>
            </a:r>
          </a:p>
          <a:p>
            <a:pPr>
              <a:defRPr/>
            </a:pPr>
            <a:r>
              <a:rPr lang="ru-RU" sz="16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LLM   </a:t>
            </a: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Можно использовать как удаленные сервисы LLM, так и локально развернутые. Допустимы к использованию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OpenAI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-совместимые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ррешения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, а также отечественные - </a:t>
            </a:r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GigaChat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 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Карта и </a:t>
            </a:r>
            <a:r>
              <a:rPr lang="ru-RU" sz="1400" b="1" dirty="0" err="1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геоданные</a:t>
            </a:r>
            <a:r>
              <a:rPr lang="ru-RU" sz="14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  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Использование локальной карты на основе открытых данных OSM и библиотеки 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MapLibre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 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Создание единого цифрового </a:t>
            </a:r>
            <a:r>
              <a:rPr lang="ru-RU" sz="1400" b="1" dirty="0" smtClean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полигона</a:t>
            </a: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Автоматизация всего учебного цикла с поддержкой интеллектуальной оценки результатов на основе передовых методов ИИ, масштабируемость на любые экстренные и дежурные службы (ДДС, Скорая, </a:t>
            </a:r>
            <a:r>
              <a:rPr lang="ru-RU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Гормост</a:t>
            </a:r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, ЖКХ) как в Москве, так и в других регионах РФ</a:t>
            </a:r>
            <a:r>
              <a:rPr lang="ru-RU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</a:t>
            </a:r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КОРОТКО О РЕШЕНИИ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Техническая суть решения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Маркетинговая суть решения</a:t>
            </a:r>
            <a:endParaRPr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91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836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39836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5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2165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782181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82181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782181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782181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782181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782181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821818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782181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782181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81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782181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181813" grpId="0" build="p"/>
      <p:bldP spid="321655550" grpId="0" build="p"/>
      <p:bldP spid="213983632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5510198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>
              <a:solidFill>
                <a:srgbClr val="FFD6E3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5510198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 dirty="0">
              <a:solidFill>
                <a:srgbClr val="FFD6E3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</a:rPr>
              <a:pPr>
                <a:defRPr/>
              </a:pPr>
              <a:t>6</a:t>
            </a:fld>
            <a:endParaRPr lang="ru-RU">
              <a:solidFill>
                <a:srgbClr val="FFFFFF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Фокус на ИИ</a:t>
            </a:r>
            <a:endParaRPr dirty="0"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601301" y="1358036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Проблематика и </a:t>
            </a:r>
            <a:r>
              <a:rPr lang="ru-RU" sz="2000" b="1" dirty="0" smtClean="0">
                <a:solidFill>
                  <a:schemeClr val="accent5"/>
                </a:solidFill>
              </a:rPr>
              <a:t>наше </a:t>
            </a:r>
            <a:r>
              <a:rPr lang="ru-RU" sz="2000" b="1" dirty="0">
                <a:solidFill>
                  <a:schemeClr val="accent5"/>
                </a:solidFill>
              </a:rPr>
              <a:t>решение</a:t>
            </a:r>
            <a:endParaRPr dirty="0"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78342" y="1353161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2000" b="1" dirty="0">
                <a:solidFill>
                  <a:schemeClr val="accent5"/>
                </a:solidFill>
              </a:rPr>
              <a:t>UX/UI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642799" y="1969207"/>
            <a:ext cx="4148276" cy="381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Необходимость отработки нестандартных ситуаций в безопасной среде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2799" y="2543083"/>
            <a:ext cx="46473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Решение (LLM-генерация) -  Автоматическое формирование бесконечного числа уникальных ситуаций и диалогов с помощью большой языковой модели.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 bwMode="auto">
          <a:xfrm>
            <a:off x="642798" y="3074513"/>
            <a:ext cx="2862401" cy="381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Интеграция с существующей инфраструктурой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642799" y="3648389"/>
            <a:ext cx="464730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Решение – Эмуляция интерфейса системы АРМ-112 в виде веб-приложения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 bwMode="auto">
          <a:xfrm>
            <a:off x="642800" y="4056709"/>
            <a:ext cx="3454186" cy="381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Большие объемы задач </a:t>
            </a:r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стоящих</a:t>
            </a:r>
            <a:r>
              <a:rPr lang="ru-RU" sz="9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 перед преподавателем</a:t>
            </a:r>
            <a:endParaRPr lang="ru-RU" sz="9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642799" y="4630585"/>
            <a:ext cx="4647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 smtClean="0"/>
              <a:t>Решение – Автоматизация труда преподавателя за счет разработки обширного перечня автоматизированных инструментов (автоматическая оценка правильности выполненных заданий, автоматическое составление учебных при помощи ИИ)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 bwMode="auto">
          <a:xfrm>
            <a:off x="642799" y="5285126"/>
            <a:ext cx="4148276" cy="381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Субъективность оценки при традиционных подходах к учебному процессу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642799" y="5859005"/>
            <a:ext cx="46473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Решение - гибридный ИИ-контроль (автоматическая + интеллектуальная оценка)). Автоматическая генерация объективного отчета, где ИИ-анализ работает совместно с жестким алгоритмическим контролем регламентов и </a:t>
            </a:r>
            <a:r>
              <a:rPr lang="ru-RU" sz="800" dirty="0" err="1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таймингов</a:t>
            </a:r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.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 bwMode="auto">
          <a:xfrm>
            <a:off x="6586399" y="1969207"/>
            <a:ext cx="1707937" cy="381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Интуитивный контроль</a:t>
            </a:r>
            <a:endParaRPr lang="ru-RU" sz="9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6586399" y="2646421"/>
            <a:ext cx="43406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800" dirty="0" smtClean="0"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Разработанная UX/UI-архитектура обеспечивает бесшовный опыт для всех ролей: обучающийся получает точную эмуляцию реального интерфейса АРМ-112 для отработки мышечной памяти, а преподаватель — удобную панель управления сценариями и детальную аналитику успеваемости в режиме реального времени</a:t>
            </a:r>
            <a:endParaRPr lang="ru-RU" sz="800" dirty="0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248" y="3648392"/>
            <a:ext cx="4478026" cy="26443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455" y="3646152"/>
            <a:ext cx="4485613" cy="264879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455" y="3646152"/>
            <a:ext cx="4485613" cy="264879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248" y="3648392"/>
            <a:ext cx="4478026" cy="2644318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7737" y="400660"/>
            <a:ext cx="677425" cy="46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8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836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39836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4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9836321" grpId="0" build="p"/>
      <p:bldP spid="4" grpId="0" animBg="1"/>
      <p:bldP spid="5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5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2DCC5B9-D646-4B76-891F-6FF4E74E9CB4}" type="slidenum">
              <a:rPr lang="ru-RU" smtClean="0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7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34" name="Скругленный прямоугольник 1"/>
          <p:cNvSpPr/>
          <p:nvPr/>
        </p:nvSpPr>
        <p:spPr bwMode="auto">
          <a:xfrm>
            <a:off x="406400" y="1054100"/>
            <a:ext cx="11423651" cy="5302257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54" y="806537"/>
            <a:ext cx="11854746" cy="5797384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400" y="344655"/>
            <a:ext cx="677425" cy="46188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7940" y="390929"/>
            <a:ext cx="2801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UX FLOW </a:t>
            </a:r>
            <a:r>
              <a:rPr lang="ru-RU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ПРОГРАММЫ</a:t>
            </a:r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9" name="Скругленный прямоугольник 38"/>
          <p:cNvSpPr/>
          <p:nvPr/>
        </p:nvSpPr>
        <p:spPr bwMode="auto">
          <a:xfrm>
            <a:off x="537210" y="1177290"/>
            <a:ext cx="3143250" cy="1497330"/>
          </a:xfrm>
          <a:prstGeom prst="roundRect">
            <a:avLst>
              <a:gd name="adj" fmla="val 2823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 smtClean="0"/>
              <a:t>Единая точка входа (Ролевая модель):</a:t>
            </a:r>
            <a:r>
              <a:rPr lang="ru-RU" sz="1000" dirty="0" smtClean="0"/>
              <a:t> Разделение потоков для Преподавателя, Обучающегося и Администратора со стартовой страницы (</a:t>
            </a:r>
            <a:r>
              <a:rPr lang="ru-RU" sz="1000" dirty="0" err="1" smtClean="0"/>
              <a:t>Hero</a:t>
            </a:r>
            <a:r>
              <a:rPr lang="ru-RU" sz="1000" dirty="0" smtClean="0"/>
              <a:t> </a:t>
            </a:r>
            <a:r>
              <a:rPr lang="ru-RU" sz="1000" dirty="0" err="1" smtClean="0"/>
              <a:t>page</a:t>
            </a:r>
            <a:r>
              <a:rPr lang="ru-RU" sz="1000" dirty="0" smtClean="0"/>
              <a:t>)</a:t>
            </a:r>
            <a:endParaRPr lang="ru-RU" sz="1000" dirty="0"/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537210" y="1168633"/>
            <a:ext cx="3143250" cy="1497330"/>
          </a:xfrm>
          <a:prstGeom prst="roundRect">
            <a:avLst>
              <a:gd name="adj" fmla="val 2823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 smtClean="0"/>
              <a:t>Гибкая настройка среды:</a:t>
            </a:r>
            <a:r>
              <a:rPr lang="ru-RU" sz="1000" dirty="0" smtClean="0"/>
              <a:t> Преподаватель создает тренировку, выбирает категорию сценария, задает уровень сложности (Легкий, Средний, Сложный) и назначает обучающихся</a:t>
            </a:r>
            <a:endParaRPr lang="ru-RU" sz="1000" dirty="0"/>
          </a:p>
        </p:txBody>
      </p:sp>
      <p:sp>
        <p:nvSpPr>
          <p:cNvPr id="41" name="Скругленный прямоугольник 40"/>
          <p:cNvSpPr/>
          <p:nvPr/>
        </p:nvSpPr>
        <p:spPr bwMode="auto">
          <a:xfrm>
            <a:off x="537210" y="1168633"/>
            <a:ext cx="3143250" cy="1497330"/>
          </a:xfrm>
          <a:prstGeom prst="roundRect">
            <a:avLst>
              <a:gd name="adj" fmla="val 2823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 smtClean="0"/>
              <a:t>Сквозной </a:t>
            </a:r>
            <a:r>
              <a:rPr lang="ru-RU" sz="1000" b="1" dirty="0" err="1" smtClean="0"/>
              <a:t>пайплайн</a:t>
            </a:r>
            <a:r>
              <a:rPr lang="ru-RU" sz="1000" b="1" dirty="0" smtClean="0"/>
              <a:t> эмуляции:</a:t>
            </a:r>
            <a:r>
              <a:rPr lang="ru-RU" sz="1000" dirty="0" smtClean="0"/>
              <a:t> При запуске сценария система имитирует поступление сообщения/вызова, которое принимает ученик, после чего речь конвертируется в текст (</a:t>
            </a:r>
            <a:r>
              <a:rPr lang="ru-RU" sz="1000" dirty="0" err="1" smtClean="0"/>
              <a:t>Voice</a:t>
            </a:r>
            <a:r>
              <a:rPr lang="ru-RU" sz="1000" dirty="0" smtClean="0"/>
              <a:t> </a:t>
            </a:r>
            <a:r>
              <a:rPr lang="ru-RU" sz="1000" dirty="0" err="1" smtClean="0"/>
              <a:t>to</a:t>
            </a:r>
            <a:r>
              <a:rPr lang="ru-RU" sz="1000" dirty="0" smtClean="0"/>
              <a:t> </a:t>
            </a:r>
            <a:r>
              <a:rPr lang="ru-RU" sz="1000" dirty="0" err="1" smtClean="0"/>
              <a:t>text</a:t>
            </a:r>
            <a:r>
              <a:rPr lang="ru-RU" sz="1000" dirty="0" smtClean="0"/>
              <a:t>) и отправляется в базу данных </a:t>
            </a:r>
            <a:endParaRPr lang="ru-RU" sz="1000" dirty="0"/>
          </a:p>
        </p:txBody>
      </p:sp>
      <p:sp>
        <p:nvSpPr>
          <p:cNvPr id="42" name="Скругленный прямоугольник 41"/>
          <p:cNvSpPr/>
          <p:nvPr/>
        </p:nvSpPr>
        <p:spPr bwMode="auto">
          <a:xfrm>
            <a:off x="537210" y="1185947"/>
            <a:ext cx="3143250" cy="1497330"/>
          </a:xfrm>
          <a:prstGeom prst="roundRect">
            <a:avLst>
              <a:gd name="adj" fmla="val 28237"/>
            </a:avLst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 smtClean="0"/>
              <a:t>Структура оценки:</a:t>
            </a:r>
            <a:r>
              <a:rPr lang="ru-RU" sz="1000" dirty="0" smtClean="0"/>
              <a:t> Изолированная работа с сущностями — ответ ученика (</a:t>
            </a:r>
            <a:r>
              <a:rPr lang="ru-RU" sz="1000" dirty="0" err="1" smtClean="0"/>
              <a:t>Answer</a:t>
            </a:r>
            <a:r>
              <a:rPr lang="ru-RU" sz="1000" dirty="0" smtClean="0"/>
              <a:t>) алгоритмически сравнивается с эталонной базой (ETALON BIG DATA) для объективного контроля. 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12583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5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500"/>
                            </p:stCondLst>
                            <p:childTnLst>
                              <p:par>
                                <p:cTn id="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5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 dirty="0">
              <a:solidFill>
                <a:srgbClr val="FFD6E3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rgbClr val="FFFFFF">
                    <a:lumMod val="95000"/>
                  </a:srgbClr>
                </a:solidFill>
              </a:rPr>
              <a:pPr>
                <a:defRPr/>
              </a:pPr>
              <a:t>8</a:t>
            </a:fld>
            <a:endParaRPr lang="ru-RU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16" y="2773770"/>
            <a:ext cx="42596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Огромное спасибо организаторам и экспертам за этот вызов! </a:t>
            </a:r>
          </a:p>
          <a:p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Код и прототипы уже на платформе. </a:t>
            </a:r>
          </a:p>
          <a:p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Готовы к вашим вопросам!</a:t>
            </a:r>
            <a:endParaRPr lang="ru-RU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9" name="Прямоугольник 29"/>
          <p:cNvSpPr/>
          <p:nvPr/>
        </p:nvSpPr>
        <p:spPr bwMode="auto">
          <a:xfrm>
            <a:off x="-1" y="1"/>
            <a:ext cx="6456363" cy="225410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 defTabSz="914220">
              <a:defRPr/>
            </a:pPr>
            <a:endParaRPr lang="ru-RU" b="1" kern="0" dirty="0">
              <a:solidFill>
                <a:srgbClr val="FFD6E3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4598" y="3446080"/>
            <a:ext cx="1007164" cy="6867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46716" y="740344"/>
            <a:ext cx="49247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ФГБОУ ВО Сибирская пожарно-спасательная академия ГПС МЧС России</a:t>
            </a:r>
          </a:p>
        </p:txBody>
      </p:sp>
      <p:pic>
        <p:nvPicPr>
          <p:cNvPr id="8" name="Рисунок 1010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916" y="711054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68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-3.75E-6 3.7037E-6 L 0.00287 -0.6518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-3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1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2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3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6.xml><?xml version="1.0" encoding="utf-8"?>
<a:theme xmlns:a="http://schemas.openxmlformats.org/drawingml/2006/main" name="4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787</Words>
  <Application>Microsoft Office PowerPoint</Application>
  <PresentationFormat>Широкоэкранный</PresentationFormat>
  <Paragraphs>105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8</vt:i4>
      </vt:variant>
    </vt:vector>
  </HeadingPairs>
  <TitlesOfParts>
    <vt:vector size="21" baseType="lpstr">
      <vt:lpstr>Amatic SC</vt:lpstr>
      <vt:lpstr>Arial</vt:lpstr>
      <vt:lpstr>Calibri</vt:lpstr>
      <vt:lpstr>Calibri Light</vt:lpstr>
      <vt:lpstr>Inter</vt:lpstr>
      <vt:lpstr>Montserrat</vt:lpstr>
      <vt:lpstr>Wingdings</vt:lpstr>
      <vt:lpstr>Тема Office</vt:lpstr>
      <vt:lpstr>Для Академия инноваторов 16_9</vt:lpstr>
      <vt:lpstr>1_Для Академия инноваторов 16_9</vt:lpstr>
      <vt:lpstr>2_Для Академия инноваторов 16_9</vt:lpstr>
      <vt:lpstr>3_Для Академия инноваторов 16_9</vt:lpstr>
      <vt:lpstr>4_Для Академия инноваторов 16_9</vt:lpstr>
      <vt:lpstr>Игры  и теория</vt:lpstr>
      <vt:lpstr>Игры и теория</vt:lpstr>
      <vt:lpstr>Игры и теория</vt:lpstr>
      <vt:lpstr>Игры и теория</vt:lpstr>
      <vt:lpstr>КОРОТКО О РЕШЕНИИ</vt:lpstr>
      <vt:lpstr>Фокус на ИИ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Игры и теория</dc:title>
  <dc:creator>IDV</dc:creator>
  <cp:lastModifiedBy>IDV</cp:lastModifiedBy>
  <cp:revision>34</cp:revision>
  <dcterms:created xsi:type="dcterms:W3CDTF">2026-09-29T01:40:54Z</dcterms:created>
  <dcterms:modified xsi:type="dcterms:W3CDTF">2026-09-29T11:46:54Z</dcterms:modified>
</cp:coreProperties>
</file>